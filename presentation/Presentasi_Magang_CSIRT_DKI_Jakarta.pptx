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685800"/>
            <a:ext cx="1737360" cy="457200"/>
          </a:xfrm>
          <a:prstGeom prst="roundRect">
            <a:avLst>
              <a:gd name="adj" fmla="val 18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3580"/>
                </a:solidFill>
                <a:latin typeface="Inter"/>
              </a:rPr>
              <a:t>CSIRT DKI JAKARTA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51592" y="685800"/>
            <a:ext cx="109728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51592" y="685800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3580"/>
                </a:solidFill>
                <a:latin typeface="Inter"/>
              </a:rPr>
              <a:t>LIVE STAGING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EFF8"/>
                </a:solidFill>
                <a:latin typeface="Inter"/>
              </a:rPr>
              <a:t>LAPORAN MAGANG · DISKOMINFOTIK DKI JAKARTA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108813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4400" b="1" i="0">
                <a:solidFill>
                  <a:srgbClr val="FFFFFF"/>
                </a:solidFill>
                <a:latin typeface="Plus Jakarta Sans"/>
              </a:rPr>
              <a:t>Modernisasi Portal CSIRT DKI Jakarta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E8EFF8"/>
                </a:solidFill>
                <a:latin typeface="Inter"/>
              </a:rPr>
              <a:t>Redesain UI/UX agar Mudah Digunakan Masyarakat Umum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FF8"/>
                </a:solidFill>
                <a:latin typeface="Inter"/>
              </a:rPr>
              <a:t>Aksesibilitas WCAG 2.1 · Dibangun Ulang dengan Laravel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886200"/>
            <a:ext cx="182880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5196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Inter"/>
              </a:rPr>
              <a:t>Abdul Latif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8EFF8"/>
                </a:solidFill>
                <a:latin typeface="Inter"/>
              </a:rPr>
              <a:t>Mahasiswa Computer Science — BINUS University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FF8"/>
                </a:solidFill>
                <a:latin typeface="Inter"/>
              </a:rPr>
              <a:t>Periode Magang: Februari – Agustus 2026   ·   Pembimbing Lapangan: Pak Andy &amp; Bu Rina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26480"/>
            <a:ext cx="10881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FF8"/>
                </a:solidFill>
                <a:latin typeface="Inter"/>
              </a:rPr>
              <a:t>csirt.jakarta.go.id — Computer Security Incident Response Team Pemerintah Provinsi DKI Jakarta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3580"/>
                </a:solidFill>
                <a:latin typeface="Inter"/>
              </a:rPr>
              <a:t>PROFIL INSTANSI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A0F1A"/>
                </a:solidFill>
                <a:latin typeface="Plus Jakarta Sans"/>
              </a:rPr>
              <a:t>Diskominfotik DKI Jakarta &amp; JakartaProv-CSIRT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005840" cy="50292"/>
          </a:xfrm>
          <a:prstGeom prst="rect">
            <a:avLst/>
          </a:prstGeom>
          <a:solidFill>
            <a:srgbClr val="003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08792" cy="13716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Inter"/>
              </a:rPr>
              <a:t>Abdul Latif · BINUS University — Laporan Magang Diskominfotik DKI Jakarta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28816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Inter"/>
              </a:rPr>
              <a:t>2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5294376" cy="352044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5294376" cy="82296"/>
          </a:xfrm>
          <a:prstGeom prst="rect">
            <a:avLst/>
          </a:prstGeom>
          <a:solidFill>
            <a:srgbClr val="003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go_diskominf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231136"/>
            <a:ext cx="688445" cy="777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83080" y="2286000"/>
            <a:ext cx="389534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A0F1A"/>
                </a:solidFill>
                <a:latin typeface="Plus Jakarta Sans"/>
              </a:rPr>
              <a:t>Diskominfotik DKI Jakarta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246120"/>
            <a:ext cx="4782312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003580"/>
                </a:solidFill>
                <a:latin typeface="Inter"/>
              </a:rPr>
              <a:t>▪  </a:t>
            </a:r>
            <a:r>
              <a:rPr sz="1200" b="0" i="0">
                <a:solidFill>
                  <a:srgbClr val="0A0F1A"/>
                </a:solidFill>
                <a:latin typeface="Inter"/>
              </a:rPr>
              <a:t>Perangkat Daerah urusan Komunikasi &amp; Informatika, Statistik, dan Persandian di wilayah DKI Jakarta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003580"/>
                </a:solidFill>
                <a:latin typeface="Inter"/>
              </a:rPr>
              <a:t>▪  </a:t>
            </a:r>
            <a:r>
              <a:rPr sz="1200" b="0" i="0">
                <a:solidFill>
                  <a:srgbClr val="0A0F1A"/>
                </a:solidFill>
                <a:latin typeface="Inter"/>
              </a:rPr>
              <a:t>Dipimpin Kepala Dinas — bertanggung jawab kepada Gubernur melalui Sekretaris Daerah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003580"/>
                </a:solidFill>
                <a:latin typeface="Inter"/>
              </a:rPr>
              <a:t>▪  </a:t>
            </a:r>
            <a:r>
              <a:rPr sz="1200" b="0" i="0">
                <a:solidFill>
                  <a:srgbClr val="0A0F1A"/>
                </a:solidFill>
                <a:latin typeface="Inter"/>
              </a:rPr>
              <a:t>Menaungi Bidang Siber, Sandi &amp; Aplikasi — rumah bagi JakartaProv-CSIRT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1920240"/>
            <a:ext cx="5294376" cy="352044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54496" y="1920240"/>
            <a:ext cx="5294376" cy="82296"/>
          </a:xfrm>
          <a:prstGeom prst="rect">
            <a:avLst/>
          </a:prstGeom>
          <a:solidFill>
            <a:srgbClr val="003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sirt-mai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2231136"/>
            <a:ext cx="671937" cy="777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97496" y="2286000"/>
            <a:ext cx="389534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A0F1A"/>
                </a:solidFill>
                <a:latin typeface="Plus Jakarta Sans"/>
              </a:rPr>
              <a:t>JakartaProv-CSIRT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3246120"/>
            <a:ext cx="4782312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003580"/>
                </a:solidFill>
                <a:latin typeface="Inter"/>
              </a:rPr>
              <a:t>▪  </a:t>
            </a:r>
            <a:r>
              <a:rPr sz="1200" b="0" i="0">
                <a:solidFill>
                  <a:srgbClr val="0A0F1A"/>
                </a:solidFill>
                <a:latin typeface="Inter"/>
              </a:rPr>
              <a:t>Tim Tanggap Insiden Siber Pemprov DKI Jakarta — ditetapkan SK Sekda (Pj.) No. 41 Tahun 2020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003580"/>
                </a:solidFill>
                <a:latin typeface="Inter"/>
              </a:rPr>
              <a:t>▪  </a:t>
            </a:r>
            <a:r>
              <a:rPr sz="1200" b="0" i="0">
                <a:solidFill>
                  <a:srgbClr val="0A0F1A"/>
                </a:solidFill>
                <a:latin typeface="Inter"/>
              </a:rPr>
              <a:t>Mitigasi, koordinasi, penanggulangan &amp; pemulihan insiden siber sektor Pemda DKI Jakarta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003580"/>
                </a:solidFill>
                <a:latin typeface="Inter"/>
              </a:rPr>
              <a:t>▪  </a:t>
            </a:r>
            <a:r>
              <a:rPr sz="1200" b="0" i="0">
                <a:solidFill>
                  <a:srgbClr val="0A0F1A"/>
                </a:solidFill>
                <a:latin typeface="Inter"/>
              </a:rPr>
              <a:t>Layanan: lapor insiden, peringatan keamanan, berita &amp; panduan keamanan siber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003580"/>
                </a:solidFill>
                <a:latin typeface="Inter"/>
              </a:rPr>
              <a:t>▪  </a:t>
            </a:r>
            <a:r>
              <a:rPr sz="1200" b="0" i="0">
                <a:solidFill>
                  <a:srgbClr val="0A0F1A"/>
                </a:solidFill>
                <a:latin typeface="Inter"/>
              </a:rPr>
              <a:t>Hotline 0813-8887-0152 · csirt@jakarta.go.id · Balaikota Blok H Lt. 13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715000"/>
            <a:ext cx="10908792" cy="64008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715000"/>
            <a:ext cx="91440" cy="640080"/>
          </a:xfrm>
          <a:prstGeom prst="rect">
            <a:avLst/>
          </a:prstGeom>
          <a:solidFill>
            <a:srgbClr val="003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715000"/>
            <a:ext cx="10332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3580"/>
                </a:solidFill>
                <a:latin typeface="Inter"/>
              </a:rPr>
              <a:t>Lokasi magang: </a:t>
            </a:r>
            <a:r>
              <a:rPr sz="1300" b="0" i="0">
                <a:solidFill>
                  <a:srgbClr val="0A0F1A"/>
                </a:solidFill>
                <a:latin typeface="Inter"/>
              </a:rPr>
              <a:t>tim pengembang portal resmi csirt.jakarta.go.id — Februari s.d. Agustus 2026.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3580"/>
                </a:solidFill>
                <a:latin typeface="Inter"/>
              </a:rPr>
              <a:t>AWAL MULA PROYEK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A0F1A"/>
                </a:solidFill>
                <a:latin typeface="Plus Jakarta Sans"/>
              </a:rPr>
              <a:t>Usulan Februari: UI Audit &amp; Metode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005840" cy="50292"/>
          </a:xfrm>
          <a:prstGeom prst="rect">
            <a:avLst/>
          </a:prstGeom>
          <a:solidFill>
            <a:srgbClr val="003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08792" cy="13716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Inter"/>
              </a:rPr>
              <a:t>Abdul Latif · BINUS University — Laporan Magang Diskominfotik DKI Jakarta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28816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Inter"/>
              </a:rPr>
              <a:t>3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5294376" cy="356616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5294376" cy="82296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212848"/>
            <a:ext cx="47823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0F1A"/>
                </a:solidFill>
                <a:latin typeface="Plus Jakarta Sans"/>
              </a:rPr>
              <a:t>Temuan UI Audit (Feb 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788920"/>
            <a:ext cx="47823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B7280"/>
                </a:solidFill>
                <a:latin typeface="Inter"/>
              </a:rPr>
              <a:t>Berdasarkan demonstrasi landing page lama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227832"/>
            <a:ext cx="4782312" cy="2167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B91C1C"/>
                </a:solidFill>
                <a:latin typeface="Inter"/>
              </a:rPr>
              <a:t>▪  </a:t>
            </a:r>
            <a:r>
              <a:rPr sz="1250" b="0" i="0">
                <a:solidFill>
                  <a:srgbClr val="0A0F1A"/>
                </a:solidFill>
                <a:latin typeface="Inter"/>
              </a:rPr>
              <a:t>Tampilan lama terlihat rapi, namun banyak elemen yang bisa diklik tidak menuju ke mana pun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B91C1C"/>
                </a:solidFill>
                <a:latin typeface="Inter"/>
              </a:rPr>
              <a:t>▪  </a:t>
            </a:r>
            <a:r>
              <a:rPr sz="1250" b="0" i="0">
                <a:solidFill>
                  <a:srgbClr val="0A0F1A"/>
                </a:solidFill>
                <a:latin typeface="Inter"/>
              </a:rPr>
              <a:t>Footer tertutup elemen lain, terlalu besar, dan penuh informasi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B91C1C"/>
                </a:solidFill>
                <a:latin typeface="Inter"/>
              </a:rPr>
              <a:t>▪  </a:t>
            </a:r>
            <a:r>
              <a:rPr sz="1250" b="0" i="0">
                <a:solidFill>
                  <a:srgbClr val="0A0F1A"/>
                </a:solidFill>
                <a:latin typeface="Inter"/>
              </a:rPr>
              <a:t>Situs terlalu fokus pada kebutuhan ahli IT — membingungkan warga biasa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1920240"/>
            <a:ext cx="5294376" cy="356616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54496" y="1920240"/>
            <a:ext cx="5294376" cy="82296"/>
          </a:xfrm>
          <a:prstGeom prst="rect">
            <a:avLst/>
          </a:prstGeom>
          <a:solidFill>
            <a:srgbClr val="003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2212848"/>
            <a:ext cx="47823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0F1A"/>
                </a:solidFill>
                <a:latin typeface="Plus Jakarta Sans"/>
              </a:rPr>
              <a:t>Metode — Idea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788920"/>
            <a:ext cx="47823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B7280"/>
                </a:solidFill>
                <a:latin typeface="Inter"/>
              </a:rPr>
              <a:t>Empat langkah dari proposal Februari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3227832"/>
            <a:ext cx="4782312" cy="2167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003580"/>
                </a:solidFill>
                <a:latin typeface="Inter"/>
              </a:rPr>
              <a:t>▪  </a:t>
            </a:r>
            <a:r>
              <a:rPr sz="1250" b="0" i="0">
                <a:solidFill>
                  <a:srgbClr val="0A0F1A"/>
                </a:solidFill>
                <a:latin typeface="Inter"/>
              </a:rPr>
              <a:t>UI Audit — memetakan ulang elemen pada halaman yang tersedia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003580"/>
                </a:solidFill>
                <a:latin typeface="Inter"/>
              </a:rPr>
              <a:t>▪  </a:t>
            </a:r>
            <a:r>
              <a:rPr sz="1250" b="0" i="0">
                <a:solidFill>
                  <a:srgbClr val="0A0F1A"/>
                </a:solidFill>
                <a:latin typeface="Inter"/>
              </a:rPr>
              <a:t>Redesign — desain ulang antarmuka dengan Figma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003580"/>
                </a:solidFill>
                <a:latin typeface="Inter"/>
              </a:rPr>
              <a:t>▪  </a:t>
            </a:r>
            <a:r>
              <a:rPr sz="1250" b="0" i="0">
                <a:solidFill>
                  <a:srgbClr val="0A0F1A"/>
                </a:solidFill>
                <a:latin typeface="Inter"/>
              </a:rPr>
              <a:t>Front-end Cleanup — implementasi ke codebase website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003580"/>
                </a:solidFill>
                <a:latin typeface="Inter"/>
              </a:rPr>
              <a:t>▪  </a:t>
            </a:r>
            <a:r>
              <a:rPr sz="1250" b="0" i="0">
                <a:solidFill>
                  <a:srgbClr val="0A0F1A"/>
                </a:solidFill>
                <a:latin typeface="Inter"/>
              </a:rPr>
              <a:t>Survey &amp; Reiterate — kritik &amp; saran pengguna umum, lalu sesuaikan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715000"/>
            <a:ext cx="10908792" cy="64008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715000"/>
            <a:ext cx="91440" cy="640080"/>
          </a:xfrm>
          <a:prstGeom prst="rect">
            <a:avLst/>
          </a:prstGeom>
          <a:solidFill>
            <a:srgbClr val="003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715000"/>
            <a:ext cx="10332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3580"/>
                </a:solidFill>
                <a:latin typeface="Inter"/>
              </a:rPr>
              <a:t>Dari proposal Februari → proyek modernisasi penuh. </a:t>
            </a:r>
            <a:r>
              <a:rPr sz="1300" b="0" i="0">
                <a:solidFill>
                  <a:srgbClr val="0A0F1A"/>
                </a:solidFill>
                <a:latin typeface="Inter"/>
              </a:rPr>
              <a:t>Langkah 'Survey &amp; Reiterate' berlanjut ke usability testing — fokus skripsi.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3580"/>
                </a:solidFill>
                <a:latin typeface="Inter"/>
              </a:rPr>
              <a:t>DATA PENGGUNA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A0F1A"/>
                </a:solidFill>
                <a:latin typeface="Plus Jakarta Sans"/>
              </a:rPr>
              <a:t>Survei Pengguna: Bukti Kebutuhan Redesain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005840" cy="50292"/>
          </a:xfrm>
          <a:prstGeom prst="rect">
            <a:avLst/>
          </a:prstGeom>
          <a:solidFill>
            <a:srgbClr val="003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08792" cy="13716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Inter"/>
              </a:rPr>
              <a:t>Abdul Latif · BINUS University — Laporan Magang Diskominfotik DKI Jakarta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28816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Inter"/>
              </a:rPr>
              <a:t>4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2521458" cy="868680"/>
          </a:xfrm>
          <a:prstGeom prst="roundRect">
            <a:avLst>
              <a:gd name="adj" fmla="val 9000"/>
            </a:avLst>
          </a:prstGeom>
          <a:solidFill>
            <a:srgbClr val="003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874519"/>
            <a:ext cx="215569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Plus Jakarta Sans"/>
              </a:rPr>
              <a:t>50%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8EFF8"/>
                </a:solidFill>
                <a:latin typeface="Inter"/>
              </a:rPr>
              <a:t>terganggu warna &amp; desain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35857" y="1874519"/>
            <a:ext cx="2521458" cy="868680"/>
          </a:xfrm>
          <a:prstGeom prst="roundRect">
            <a:avLst>
              <a:gd name="adj" fmla="val 9000"/>
            </a:avLst>
          </a:prstGeom>
          <a:solidFill>
            <a:srgbClr val="003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8737" y="1874519"/>
            <a:ext cx="215569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Plus Jakarta Sans"/>
              </a:rPr>
              <a:t>44%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8EFF8"/>
                </a:solidFill>
                <a:latin typeface="Inter"/>
              </a:rPr>
              <a:t>keluhan ukuran teks/font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874519"/>
            <a:ext cx="2521458" cy="868680"/>
          </a:xfrm>
          <a:prstGeom prst="roundRect">
            <a:avLst>
              <a:gd name="adj" fmla="val 9000"/>
            </a:avLst>
          </a:prstGeom>
          <a:solidFill>
            <a:srgbClr val="003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4516" y="1874519"/>
            <a:ext cx="215569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Plus Jakarta Sans"/>
              </a:rPr>
              <a:t>31%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8EFF8"/>
                </a:solidFill>
                <a:latin typeface="Inter"/>
              </a:rPr>
              <a:t>tata letak / navigasi / loading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27413" y="1874519"/>
            <a:ext cx="2521458" cy="868680"/>
          </a:xfrm>
          <a:prstGeom prst="roundRect">
            <a:avLst>
              <a:gd name="adj" fmla="val 9000"/>
            </a:avLst>
          </a:prstGeom>
          <a:solidFill>
            <a:srgbClr val="003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10293" y="1874519"/>
            <a:ext cx="215569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Plus Jakarta Sans"/>
              </a:rPr>
              <a:t>13%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8EFF8"/>
                </a:solidFill>
                <a:latin typeface="Inter"/>
              </a:rPr>
              <a:t>error saat submit laporan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063240"/>
            <a:ext cx="5294376" cy="283464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063240"/>
            <a:ext cx="5294376" cy="82296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355848"/>
            <a:ext cx="47823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A0F1A"/>
                </a:solidFill>
                <a:latin typeface="Plus Jakarta Sans"/>
              </a:rPr>
              <a:t>Keluhan Terbanyak (N = 16)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3931920"/>
            <a:ext cx="47823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B7280"/>
                </a:solidFill>
                <a:latin typeface="Inter"/>
              </a:rPr>
              <a:t>Survei pengguna umum, 4–5 Februari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370831"/>
            <a:ext cx="4782312" cy="143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B91C1C"/>
                </a:solidFill>
                <a:latin typeface="Inter"/>
              </a:rPr>
              <a:t>▪  </a:t>
            </a:r>
            <a:r>
              <a:rPr sz="1200" b="0" i="0">
                <a:solidFill>
                  <a:srgbClr val="0A0F1A"/>
                </a:solidFill>
                <a:latin typeface="Inter"/>
              </a:rPr>
              <a:t>Warna &amp; desain — diminta biru navy, bukan oranye terang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B91C1C"/>
                </a:solidFill>
                <a:latin typeface="Inter"/>
              </a:rPr>
              <a:t>▪  </a:t>
            </a:r>
            <a:r>
              <a:rPr sz="1200" b="0" i="0">
                <a:solidFill>
                  <a:srgbClr val="0A0F1A"/>
                </a:solidFill>
                <a:latin typeface="Inter"/>
              </a:rPr>
              <a:t>Ukuran teks/font yang mengganggu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B91C1C"/>
                </a:solidFill>
                <a:latin typeface="Inter"/>
              </a:rPr>
              <a:t>▪  </a:t>
            </a:r>
            <a:r>
              <a:rPr sz="1200" b="0" i="0">
                <a:solidFill>
                  <a:srgbClr val="0A0F1A"/>
                </a:solidFill>
                <a:latin typeface="Inter"/>
              </a:rPr>
              <a:t>Penempatan fitur, navigasi &amp; waktu loading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B91C1C"/>
                </a:solidFill>
                <a:latin typeface="Inter"/>
              </a:rPr>
              <a:t>▪  </a:t>
            </a:r>
            <a:r>
              <a:rPr sz="1200" b="0" i="0">
                <a:solidFill>
                  <a:srgbClr val="0A0F1A"/>
                </a:solidFill>
                <a:latin typeface="Inter"/>
              </a:rPr>
              <a:t>Gagal mengirim laporan insiden (error database)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4496" y="3063240"/>
            <a:ext cx="5294376" cy="283464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54496" y="3063240"/>
            <a:ext cx="5294376" cy="82296"/>
          </a:xfrm>
          <a:prstGeom prst="rect">
            <a:avLst/>
          </a:prstGeom>
          <a:solidFill>
            <a:srgbClr val="003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3355848"/>
            <a:ext cx="47823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A0F1A"/>
                </a:solidFill>
                <a:latin typeface="Plus Jakarta Sans"/>
              </a:rPr>
              <a:t>Jawaban Melalui Redesain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3931920"/>
            <a:ext cx="47823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B7280"/>
                </a:solidFill>
                <a:latin typeface="Inter"/>
              </a:rPr>
              <a:t>Setiap keluhan dipetakan ke solusi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370831"/>
            <a:ext cx="4782312" cy="143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003580"/>
                </a:solidFill>
                <a:latin typeface="Inter"/>
              </a:rPr>
              <a:t>▪  </a:t>
            </a:r>
            <a:r>
              <a:rPr sz="1200" b="0" i="0">
                <a:solidFill>
                  <a:srgbClr val="0A0F1A"/>
                </a:solidFill>
                <a:latin typeface="Inter"/>
              </a:rPr>
              <a:t>Design system navy #003580 yang konsisten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003580"/>
                </a:solidFill>
                <a:latin typeface="Inter"/>
              </a:rPr>
              <a:t>▪  </a:t>
            </a:r>
            <a:r>
              <a:rPr sz="1200" b="0" i="0">
                <a:solidFill>
                  <a:srgbClr val="0A0F1A"/>
                </a:solidFill>
                <a:latin typeface="Inter"/>
              </a:rPr>
              <a:t>Widget aksesibilitas: teks 80–150%, kontras tinggi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003580"/>
                </a:solidFill>
                <a:latin typeface="Inter"/>
              </a:rPr>
              <a:t>▪  </a:t>
            </a:r>
            <a:r>
              <a:rPr sz="1200" b="0" i="0">
                <a:solidFill>
                  <a:srgbClr val="0A0F1A"/>
                </a:solidFill>
                <a:latin typeface="Inter"/>
              </a:rPr>
              <a:t>Struktur layout dipetakan ulang (UI audit)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003580"/>
                </a:solidFill>
                <a:latin typeface="Inter"/>
              </a:rPr>
              <a:t>▪  </a:t>
            </a:r>
            <a:r>
              <a:rPr sz="1200" b="0" i="0">
                <a:solidFill>
                  <a:srgbClr val="0A0F1A"/>
                </a:solidFill>
                <a:latin typeface="Inter"/>
              </a:rPr>
              <a:t>Form insiden terstruktur + proteksi TaC + rate limit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3580"/>
                </a:solidFill>
                <a:latin typeface="Inter"/>
              </a:rPr>
              <a:t>DESKRIPSI PROYEK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A0F1A"/>
                </a:solidFill>
                <a:latin typeface="Plus Jakarta Sans"/>
              </a:rPr>
              <a:t>Permasalahan &amp; Tujuan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005840" cy="50292"/>
          </a:xfrm>
          <a:prstGeom prst="rect">
            <a:avLst/>
          </a:prstGeom>
          <a:solidFill>
            <a:srgbClr val="003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08792" cy="13716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Inter"/>
              </a:rPr>
              <a:t>Abdul Latif · BINUS University — Laporan Magang Diskominfotik DKI Jakarta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28816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Inter"/>
              </a:rPr>
              <a:t>5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3422904" cy="3977639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3422904" cy="82296"/>
          </a:xfrm>
          <a:prstGeom prst="rect">
            <a:avLst/>
          </a:prstGeom>
          <a:solidFill>
            <a:srgbClr val="003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212848"/>
            <a:ext cx="2910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A0F1A"/>
                </a:solidFill>
                <a:latin typeface="Plus Jakarta Sans"/>
              </a:rPr>
              <a:t>Latar Belakang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788920"/>
            <a:ext cx="291084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0A0F1A"/>
                </a:solidFill>
                <a:latin typeface="Inter"/>
              </a:rPr>
              <a:t>Portal CSIRT DKI Jakarta adalah kanal publik untuk melaporkan insiden siber dan literasi keamanan digital bagi warga serta pegawai pemerintah.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0A0F1A"/>
                </a:solidFill>
                <a:latin typeface="Inter"/>
              </a:rPr>
              <a:t>Versi lama (Yii) terlalu fokus pada kebutuhan ahli IT — membingungkan warga biasa yang hanya ingin melapor.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0A0F1A"/>
                </a:solidFill>
                <a:latin typeface="Inter"/>
              </a:rPr>
              <a:t>Survei Februari: 50% terganggu warna &amp; desain, 13% gagal saat submit laporan.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3024" y="1920240"/>
            <a:ext cx="3422904" cy="3977639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3024" y="1920240"/>
            <a:ext cx="3422904" cy="82296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9056" y="2212848"/>
            <a:ext cx="2910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A0F1A"/>
                </a:solidFill>
                <a:latin typeface="Plus Jakarta Sans"/>
              </a:rPr>
              <a:t>Permasalahan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9056" y="2788920"/>
            <a:ext cx="291084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B91C1C"/>
                </a:solidFill>
                <a:latin typeface="Inter"/>
              </a:rPr>
              <a:t>▪  </a:t>
            </a:r>
            <a:r>
              <a:rPr sz="1200" b="0" i="0">
                <a:solidFill>
                  <a:srgbClr val="0A0F1A"/>
                </a:solidFill>
                <a:latin typeface="Inter"/>
              </a:rPr>
              <a:t>Portal expert-centric, penuh istilah teknis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B91C1C"/>
                </a:solidFill>
                <a:latin typeface="Inter"/>
              </a:rPr>
              <a:t>▪  </a:t>
            </a:r>
            <a:r>
              <a:rPr sz="1200" b="0" i="0">
                <a:solidFill>
                  <a:srgbClr val="0A0F1A"/>
                </a:solidFill>
                <a:latin typeface="Inter"/>
              </a:rPr>
              <a:t>Form lama rumit, penuh input teknis kosong &amp; skor CVSS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B91C1C"/>
                </a:solidFill>
                <a:latin typeface="Inter"/>
              </a:rPr>
              <a:t>▪  </a:t>
            </a:r>
            <a:r>
              <a:rPr sz="1200" b="0" i="0">
                <a:solidFill>
                  <a:srgbClr val="0A0F1A"/>
                </a:solidFill>
                <a:latin typeface="Inter"/>
              </a:rPr>
              <a:t>Tidak ramah gangguan penglihatan / buta warna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B91C1C"/>
                </a:solidFill>
                <a:latin typeface="Inter"/>
              </a:rPr>
              <a:t>▪  </a:t>
            </a:r>
            <a:r>
              <a:rPr sz="1200" b="0" i="0">
                <a:solidFill>
                  <a:srgbClr val="0A0F1A"/>
                </a:solidFill>
                <a:latin typeface="Inter"/>
              </a:rPr>
              <a:t>Konten hanya bisa diubah lewat kode program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5968" y="1920240"/>
            <a:ext cx="3422904" cy="3977639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25968" y="1920240"/>
            <a:ext cx="3422904" cy="82296"/>
          </a:xfrm>
          <a:prstGeom prst="rect">
            <a:avLst/>
          </a:prstGeom>
          <a:solidFill>
            <a:srgbClr val="004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1999" y="2212848"/>
            <a:ext cx="2910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A0F1A"/>
                </a:solidFill>
                <a:latin typeface="Plus Jakarta Sans"/>
              </a:rPr>
              <a:t>Tujuan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1999" y="2788920"/>
            <a:ext cx="291084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004099"/>
                </a:solidFill>
                <a:latin typeface="Inter"/>
              </a:rPr>
              <a:t>▪  </a:t>
            </a:r>
            <a:r>
              <a:rPr sz="1200" b="0" i="0">
                <a:solidFill>
                  <a:srgbClr val="0A0F1A"/>
                </a:solidFill>
                <a:latin typeface="Inter"/>
              </a:rPr>
              <a:t>Melapor insiden mudah bagi masyarakat umum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004099"/>
                </a:solidFill>
                <a:latin typeface="Inter"/>
              </a:rPr>
              <a:t>▪  </a:t>
            </a:r>
            <a:r>
              <a:rPr sz="1200" b="0" i="0">
                <a:solidFill>
                  <a:srgbClr val="0A0F1A"/>
                </a:solidFill>
                <a:latin typeface="Inter"/>
              </a:rPr>
              <a:t>Form terstruktur ringkas + pelacakan status tiket INS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004099"/>
                </a:solidFill>
                <a:latin typeface="Inter"/>
              </a:rPr>
              <a:t>▪  </a:t>
            </a:r>
            <a:r>
              <a:rPr sz="1200" b="0" i="0">
                <a:solidFill>
                  <a:srgbClr val="0A0F1A"/>
                </a:solidFill>
                <a:latin typeface="Inter"/>
              </a:rPr>
              <a:t>Aksesibilitas standar layanan publik (WCAG 2.1)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004099"/>
                </a:solidFill>
                <a:latin typeface="Inter"/>
              </a:rPr>
              <a:t>▪  </a:t>
            </a:r>
            <a:r>
              <a:rPr sz="1200" b="0" i="0">
                <a:solidFill>
                  <a:srgbClr val="0A0F1A"/>
                </a:solidFill>
                <a:latin typeface="Inter"/>
              </a:rPr>
              <a:t>Staf mengelola konten tanpa menyentuh kode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3580"/>
                </a:solidFill>
                <a:latin typeface="Inter"/>
              </a:rPr>
              <a:t>TAHAPAN PENGERJAAN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A0F1A"/>
                </a:solidFill>
                <a:latin typeface="Plus Jakarta Sans"/>
              </a:rPr>
              <a:t>Progress Pengerjaan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005840" cy="50292"/>
          </a:xfrm>
          <a:prstGeom prst="rect">
            <a:avLst/>
          </a:prstGeom>
          <a:solidFill>
            <a:srgbClr val="003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08792" cy="13716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Inter"/>
              </a:rPr>
              <a:t>Abdul Latif · BINUS University — Laporan Magang Diskominfotik DKI Jakarta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28816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Inter"/>
              </a:rPr>
              <a:t>6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19" y="2336292"/>
            <a:ext cx="7629753" cy="82296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10335" y="1956816"/>
            <a:ext cx="841248" cy="841248"/>
          </a:xfrm>
          <a:prstGeom prst="ellipse">
            <a:avLst/>
          </a:prstGeom>
          <a:solidFill>
            <a:srgbClr val="003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944368"/>
            <a:ext cx="185257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7280"/>
                </a:solidFill>
                <a:latin typeface="Inter"/>
              </a:rPr>
              <a:t>MARET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3291840"/>
            <a:ext cx="185257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A0F1A"/>
                </a:solidFill>
                <a:latin typeface="Plus Jakarta Sans"/>
              </a:rPr>
              <a:t>Struktur &amp; 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3767328"/>
            <a:ext cx="185257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Inter"/>
              </a:rPr>
              <a:t>Struktur dasar Laravel + tabel laporan insiden &amp; berita</a:t>
            </a:r>
          </a:p>
        </p:txBody>
      </p:sp>
      <p:sp>
        <p:nvSpPr>
          <p:cNvPr id="13" name="Oval 12"/>
          <p:cNvSpPr/>
          <p:nvPr/>
        </p:nvSpPr>
        <p:spPr>
          <a:xfrm>
            <a:off x="3492093" y="1956816"/>
            <a:ext cx="841248" cy="841248"/>
          </a:xfrm>
          <a:prstGeom prst="ellipse">
            <a:avLst/>
          </a:prstGeom>
          <a:solidFill>
            <a:srgbClr val="003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6430" y="2944368"/>
            <a:ext cx="185257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7280"/>
                </a:solidFill>
                <a:latin typeface="Inter"/>
              </a:rPr>
              <a:t>MAR – APR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6430" y="3291840"/>
            <a:ext cx="185257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A0F1A"/>
                </a:solidFill>
                <a:latin typeface="Plus Jakarta Sans"/>
              </a:rPr>
              <a:t>Form Laporan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6430" y="3767328"/>
            <a:ext cx="185257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Inter"/>
              </a:rPr>
              <a:t>Form terstruktur + pelacakan tiket INS-YYYY</a:t>
            </a:r>
          </a:p>
        </p:txBody>
      </p:sp>
      <p:sp>
        <p:nvSpPr>
          <p:cNvPr id="17" name="Oval 16"/>
          <p:cNvSpPr/>
          <p:nvPr/>
        </p:nvSpPr>
        <p:spPr>
          <a:xfrm>
            <a:off x="5673852" y="1956816"/>
            <a:ext cx="841248" cy="841248"/>
          </a:xfrm>
          <a:prstGeom prst="ellipse">
            <a:avLst/>
          </a:prstGeom>
          <a:solidFill>
            <a:srgbClr val="003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8188" y="2944368"/>
            <a:ext cx="185257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7280"/>
                </a:solidFill>
                <a:latin typeface="Inter"/>
              </a:rPr>
              <a:t>APR – MEI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8188" y="3291840"/>
            <a:ext cx="185257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A0F1A"/>
                </a:solidFill>
                <a:latin typeface="Plus Jakarta Sans"/>
              </a:rPr>
              <a:t>Admin &amp; Konten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8188" y="3767328"/>
            <a:ext cx="185257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Inter"/>
              </a:rPr>
              <a:t>Login &amp; dashboard aman untuk staf internal</a:t>
            </a:r>
          </a:p>
        </p:txBody>
      </p:sp>
      <p:sp>
        <p:nvSpPr>
          <p:cNvPr id="21" name="Oval 20"/>
          <p:cNvSpPr/>
          <p:nvPr/>
        </p:nvSpPr>
        <p:spPr>
          <a:xfrm>
            <a:off x="7855610" y="1956816"/>
            <a:ext cx="841248" cy="841248"/>
          </a:xfrm>
          <a:prstGeom prst="ellipse">
            <a:avLst/>
          </a:prstGeom>
          <a:solidFill>
            <a:srgbClr val="003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Plus Jakarta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9947" y="2944368"/>
            <a:ext cx="185257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7280"/>
                </a:solidFill>
                <a:latin typeface="Inter"/>
              </a:rPr>
              <a:t>MEI – SEKARANG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49947" y="3291840"/>
            <a:ext cx="185257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A0F1A"/>
                </a:solidFill>
                <a:latin typeface="Plus Jakarta Sans"/>
              </a:rPr>
              <a:t>Desain &amp; Aksesibilitas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49947" y="3767328"/>
            <a:ext cx="185257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Inter"/>
              </a:rPr>
              <a:t>Galeri infografis + widget aksesibilitas</a:t>
            </a:r>
          </a:p>
        </p:txBody>
      </p:sp>
      <p:sp>
        <p:nvSpPr>
          <p:cNvPr id="25" name="Oval 24"/>
          <p:cNvSpPr/>
          <p:nvPr/>
        </p:nvSpPr>
        <p:spPr>
          <a:xfrm>
            <a:off x="10037368" y="1956816"/>
            <a:ext cx="841248" cy="841248"/>
          </a:xfrm>
          <a:prstGeom prst="ellipse">
            <a:avLst/>
          </a:prstGeom>
          <a:solidFill>
            <a:srgbClr val="E8EFF8"/>
          </a:solidFill>
          <a:ln w="19050">
            <a:solidFill>
              <a:srgbClr val="004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004099"/>
                </a:solidFill>
                <a:latin typeface="Plus Jakarta San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31705" y="2944368"/>
            <a:ext cx="185257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7280"/>
                </a:solidFill>
                <a:latin typeface="Inter"/>
              </a:rPr>
              <a:t>BERIKUTNYA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1705" y="3291840"/>
            <a:ext cx="185257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A0F1A"/>
                </a:solidFill>
                <a:latin typeface="Plus Jakarta Sans"/>
              </a:rPr>
              <a:t>Usability Testing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31705" y="3767328"/>
            <a:ext cx="185257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Inter"/>
              </a:rPr>
              <a:t>Bandingkan lama vs baru, ukur error &amp; waktu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257800"/>
            <a:ext cx="10908792" cy="77724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5257800"/>
            <a:ext cx="91440" cy="777240"/>
          </a:xfrm>
          <a:prstGeom prst="rect">
            <a:avLst/>
          </a:prstGeom>
          <a:solidFill>
            <a:srgbClr val="003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257800"/>
            <a:ext cx="103327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3580"/>
                </a:solidFill>
                <a:latin typeface="Inter"/>
              </a:rPr>
              <a:t>Pendekatan iteratif: </a:t>
            </a:r>
            <a:r>
              <a:rPr sz="1300" b="0" i="0">
                <a:solidFill>
                  <a:srgbClr val="0A0F1A"/>
                </a:solidFill>
                <a:latin typeface="Inter"/>
              </a:rPr>
              <a:t>setiap fitur melalui siklus rancang → bangun → uji → perbaiki, dengan umpan balik dari pembimbing lapangan.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3580"/>
                </a:solidFill>
                <a:latin typeface="Inter"/>
              </a:rPr>
              <a:t>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A0F1A"/>
                </a:solidFill>
                <a:latin typeface="Plus Jakarta Sans"/>
              </a:rPr>
              <a:t>Sebelum vs Sesudah: Form Laporan Insiden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005840" cy="50292"/>
          </a:xfrm>
          <a:prstGeom prst="rect">
            <a:avLst/>
          </a:prstGeom>
          <a:solidFill>
            <a:srgbClr val="003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08792" cy="13716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Inter"/>
              </a:rPr>
              <a:t>Abdul Latif · BINUS University — Laporan Magang Diskominfotik DKI Jakarta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28816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Inter"/>
              </a:rPr>
              <a:t>7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5294376" cy="406908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5294376" cy="82296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212848"/>
            <a:ext cx="47823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0F1A"/>
                </a:solidFill>
                <a:latin typeface="Plus Jakarta Sans"/>
              </a:rPr>
              <a:t>SEBELUM — Portal Lama (Yii)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788920"/>
            <a:ext cx="4782312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B91C1C"/>
                </a:solidFill>
                <a:latin typeface="Inter"/>
              </a:rPr>
              <a:t>▪  </a:t>
            </a:r>
            <a:r>
              <a:rPr sz="1250" b="0" i="0">
                <a:solidFill>
                  <a:srgbClr val="0A0F1A"/>
                </a:solidFill>
                <a:latin typeface="Inter"/>
              </a:rPr>
              <a:t>Satu halaman sangat panjang, penuh kotak teks kosong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B91C1C"/>
                </a:solidFill>
                <a:latin typeface="Inter"/>
              </a:rPr>
              <a:t>▪  </a:t>
            </a:r>
            <a:r>
              <a:rPr sz="1250" b="0" i="0">
                <a:solidFill>
                  <a:srgbClr val="0A0F1A"/>
                </a:solidFill>
                <a:latin typeface="Inter"/>
              </a:rPr>
              <a:t>Meminta data teknis rumit — skor CVSS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B91C1C"/>
                </a:solidFill>
                <a:latin typeface="Inter"/>
              </a:rPr>
              <a:t>▪  </a:t>
            </a:r>
            <a:r>
              <a:rPr sz="1250" b="0" i="0">
                <a:solidFill>
                  <a:srgbClr val="0A0F1A"/>
                </a:solidFill>
                <a:latin typeface="Inter"/>
              </a:rPr>
              <a:t>Istilah yang tidak dipahami warga awam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B91C1C"/>
                </a:solidFill>
                <a:latin typeface="Inter"/>
              </a:rPr>
              <a:t>▪  </a:t>
            </a:r>
            <a:r>
              <a:rPr sz="1250" b="0" i="0">
                <a:solidFill>
                  <a:srgbClr val="0A0F1A"/>
                </a:solidFill>
                <a:latin typeface="Inter"/>
              </a:rPr>
              <a:t>Warga bingung — banyak yang tidak jadi melapor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920240"/>
            <a:ext cx="5294376" cy="406908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4496" y="1920240"/>
            <a:ext cx="5294376" cy="82296"/>
          </a:xfrm>
          <a:prstGeom prst="rect">
            <a:avLst/>
          </a:prstGeom>
          <a:solidFill>
            <a:srgbClr val="003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2212848"/>
            <a:ext cx="47823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0F1A"/>
                </a:solidFill>
                <a:latin typeface="Plus Jakarta Sans"/>
              </a:rPr>
              <a:t>SESUDAH — Portal Baru (Laravel)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788920"/>
            <a:ext cx="4782312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003580"/>
                </a:solidFill>
                <a:latin typeface="Inter"/>
              </a:rPr>
              <a:t>▪  </a:t>
            </a:r>
            <a:r>
              <a:rPr sz="1250" b="0" i="0">
                <a:solidFill>
                  <a:srgbClr val="0A0F1A"/>
                </a:solidFill>
                <a:latin typeface="Inter"/>
              </a:rPr>
              <a:t>Formulir satu halaman yang terstruktur rapi: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003580"/>
                </a:solidFill>
                <a:latin typeface="Inter"/>
              </a:rPr>
              <a:t>▪  </a:t>
            </a:r>
            <a:r>
              <a:rPr sz="1250" b="0" i="0">
                <a:solidFill>
                  <a:srgbClr val="0A0F1A"/>
                </a:solidFill>
                <a:latin typeface="Inter"/>
              </a:rPr>
              <a:t>Bagian 1 — Data Insiden (kategori, waktu, URL, deskripsi)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003580"/>
                </a:solidFill>
                <a:latin typeface="Inter"/>
              </a:rPr>
              <a:t>▪  </a:t>
            </a:r>
            <a:r>
              <a:rPr sz="1250" b="0" i="0">
                <a:solidFill>
                  <a:srgbClr val="0A0F1A"/>
                </a:solidFill>
                <a:latin typeface="Inter"/>
              </a:rPr>
              <a:t>Bagian 2 — Bukti Laporan (file maks 5MB atau URL)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003580"/>
                </a:solidFill>
                <a:latin typeface="Inter"/>
              </a:rPr>
              <a:t>▪  </a:t>
            </a:r>
            <a:r>
              <a:rPr sz="1250" b="0" i="0">
                <a:solidFill>
                  <a:srgbClr val="0A0F1A"/>
                </a:solidFill>
                <a:latin typeface="Inter"/>
              </a:rPr>
              <a:t>Panduan interaktif kategori serangan &amp; proteksi TaC gate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003580"/>
                </a:solidFill>
                <a:latin typeface="Inter"/>
              </a:rPr>
              <a:t>▪  </a:t>
            </a:r>
            <a:r>
              <a:rPr sz="1250" b="0" i="0">
                <a:solidFill>
                  <a:srgbClr val="0A0F1A"/>
                </a:solidFill>
                <a:latin typeface="Inter"/>
              </a:rPr>
              <a:t>Tiket resmi INS-YYYY-XXXX &amp; dashboard pelacakan status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888736" y="3108960"/>
            <a:ext cx="411480" cy="502920"/>
          </a:xfrm>
          <a:prstGeom prst="rightArrow">
            <a:avLst/>
          </a:prstGeom>
          <a:solidFill>
            <a:srgbClr val="003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3580"/>
                </a:solidFill>
                <a:latin typeface="Inter"/>
              </a:rPr>
              <a:t>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A0F1A"/>
                </a:solidFill>
                <a:latin typeface="Plus Jakarta Sans"/>
              </a:rPr>
              <a:t>Sebelum vs Sesudah: Aksesibilitas &amp; Konten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005840" cy="50292"/>
          </a:xfrm>
          <a:prstGeom prst="rect">
            <a:avLst/>
          </a:prstGeom>
          <a:solidFill>
            <a:srgbClr val="003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08792" cy="13716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Inter"/>
              </a:rPr>
              <a:t>Abdul Latif · BINUS University — Laporan Magang Diskominfotik DKI Jakarta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28816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Inter"/>
              </a:rPr>
              <a:t>8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2521458" cy="868680"/>
          </a:xfrm>
          <a:prstGeom prst="roundRect">
            <a:avLst>
              <a:gd name="adj" fmla="val 9000"/>
            </a:avLst>
          </a:prstGeom>
          <a:solidFill>
            <a:srgbClr val="003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874519"/>
            <a:ext cx="215569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Plus Jakarta Sans"/>
              </a:rPr>
              <a:t>9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8EFF8"/>
                </a:solidFill>
                <a:latin typeface="Inter"/>
              </a:rPr>
              <a:t>halaman publik didesain ulang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35857" y="1874519"/>
            <a:ext cx="2521458" cy="868680"/>
          </a:xfrm>
          <a:prstGeom prst="roundRect">
            <a:avLst>
              <a:gd name="adj" fmla="val 9000"/>
            </a:avLst>
          </a:prstGeom>
          <a:solidFill>
            <a:srgbClr val="003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8737" y="1874519"/>
            <a:ext cx="215569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Plus Jakarta Sans"/>
              </a:rPr>
              <a:t>6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8EFF8"/>
                </a:solidFill>
                <a:latin typeface="Inter"/>
              </a:rPr>
              <a:t>modul panel admin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874519"/>
            <a:ext cx="2521458" cy="868680"/>
          </a:xfrm>
          <a:prstGeom prst="roundRect">
            <a:avLst>
              <a:gd name="adj" fmla="val 9000"/>
            </a:avLst>
          </a:prstGeom>
          <a:solidFill>
            <a:srgbClr val="003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4516" y="1874519"/>
            <a:ext cx="215569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Plus Jakarta Sans"/>
              </a:rPr>
              <a:t>3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8EFF8"/>
                </a:solidFill>
                <a:latin typeface="Inter"/>
              </a:rPr>
              <a:t>mode kontras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27413" y="1874519"/>
            <a:ext cx="2521458" cy="868680"/>
          </a:xfrm>
          <a:prstGeom prst="roundRect">
            <a:avLst>
              <a:gd name="adj" fmla="val 9000"/>
            </a:avLst>
          </a:prstGeom>
          <a:solidFill>
            <a:srgbClr val="003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10293" y="1874519"/>
            <a:ext cx="215569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Plus Jakarta Sans"/>
              </a:rPr>
              <a:t>60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8EFF8"/>
                </a:solidFill>
                <a:latin typeface="Inter"/>
              </a:rPr>
              <a:t>permintaan/menit rate limit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063240"/>
            <a:ext cx="5294376" cy="283464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063240"/>
            <a:ext cx="5294376" cy="82296"/>
          </a:xfrm>
          <a:prstGeom prst="rect">
            <a:avLst/>
          </a:prstGeom>
          <a:solidFill>
            <a:srgbClr val="003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355848"/>
            <a:ext cx="47823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A0F1A"/>
                </a:solidFill>
                <a:latin typeface="Plus Jakarta Sans"/>
              </a:rPr>
              <a:t>Widget Aksesibilitas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3931920"/>
            <a:ext cx="47823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B7280"/>
                </a:solidFill>
                <a:latin typeface="Inter"/>
              </a:rPr>
              <a:t>Sebelum: tidak ramah gangguan penglihatan / buta warna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370831"/>
            <a:ext cx="4782312" cy="143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003580"/>
                </a:solidFill>
                <a:latin typeface="Inter"/>
              </a:rPr>
              <a:t>▪  </a:t>
            </a:r>
            <a:r>
              <a:rPr sz="1200" b="0" i="0">
                <a:solidFill>
                  <a:srgbClr val="0A0F1A"/>
                </a:solidFill>
                <a:latin typeface="Inter"/>
              </a:rPr>
              <a:t>Ukuran teks 80% – 150%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003580"/>
                </a:solidFill>
                <a:latin typeface="Inter"/>
              </a:rPr>
              <a:t>▪  </a:t>
            </a:r>
            <a:r>
              <a:rPr sz="1200" b="0" i="0">
                <a:solidFill>
                  <a:srgbClr val="0A0F1A"/>
                </a:solidFill>
                <a:latin typeface="Inter"/>
              </a:rPr>
              <a:t>Spasi baris &amp; spasi huruf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003580"/>
                </a:solidFill>
                <a:latin typeface="Inter"/>
              </a:rPr>
              <a:t>▪  </a:t>
            </a:r>
            <a:r>
              <a:rPr sz="1200" b="0" i="0">
                <a:solidFill>
                  <a:srgbClr val="0A0F1A"/>
                </a:solidFill>
                <a:latin typeface="Inter"/>
              </a:rPr>
              <a:t>Kontras tinggi &amp; dark mode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003580"/>
                </a:solidFill>
                <a:latin typeface="Inter"/>
              </a:rPr>
              <a:t>▪  </a:t>
            </a:r>
            <a:r>
              <a:rPr sz="1200" b="0" i="0">
                <a:solidFill>
                  <a:srgbClr val="0A0F1A"/>
                </a:solidFill>
                <a:latin typeface="Inter"/>
              </a:rPr>
              <a:t>Preferensi tersimpan di browser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4496" y="3063240"/>
            <a:ext cx="5294376" cy="283464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54496" y="3063240"/>
            <a:ext cx="5294376" cy="82296"/>
          </a:xfrm>
          <a:prstGeom prst="rect">
            <a:avLst/>
          </a:prstGeom>
          <a:solidFill>
            <a:srgbClr val="004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3355848"/>
            <a:ext cx="47823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A0F1A"/>
                </a:solidFill>
                <a:latin typeface="Plus Jakarta Sans"/>
              </a:rPr>
              <a:t>Admin — Manajemen Konten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3931920"/>
            <a:ext cx="47823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B7280"/>
                </a:solidFill>
                <a:latin typeface="Inter"/>
              </a:rPr>
              <a:t>Sebelum: konten hanya bisa diubah lewat kode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370831"/>
            <a:ext cx="4782312" cy="143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004099"/>
                </a:solidFill>
                <a:latin typeface="Inter"/>
              </a:rPr>
              <a:t>▪  </a:t>
            </a:r>
            <a:r>
              <a:rPr sz="1200" b="0" i="0">
                <a:solidFill>
                  <a:srgbClr val="0A0F1A"/>
                </a:solidFill>
                <a:latin typeface="Inter"/>
              </a:rPr>
              <a:t>Login &amp; dashboard aman untuk staf internal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004099"/>
                </a:solidFill>
                <a:latin typeface="Inter"/>
              </a:rPr>
              <a:t>▪  </a:t>
            </a:r>
            <a:r>
              <a:rPr sz="1200" b="0" i="0">
                <a:solidFill>
                  <a:srgbClr val="0A0F1A"/>
                </a:solidFill>
                <a:latin typeface="Inter"/>
              </a:rPr>
              <a:t>Tambah / ubah / hapus berita, peringatan, infografis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004099"/>
                </a:solidFill>
                <a:latin typeface="Inter"/>
              </a:rPr>
              <a:t>▪  </a:t>
            </a:r>
            <a:r>
              <a:rPr sz="1200" b="0" i="0">
                <a:solidFill>
                  <a:srgbClr val="0A0F1A"/>
                </a:solidFill>
                <a:latin typeface="Inter"/>
              </a:rPr>
              <a:t>Galeri infografis rapi &amp; cepat dimuat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004099"/>
                </a:solidFill>
                <a:latin typeface="Inter"/>
              </a:rPr>
              <a:t>▪  </a:t>
            </a:r>
            <a:r>
              <a:rPr sz="1200" b="0" i="0">
                <a:solidFill>
                  <a:srgbClr val="0A0F1A"/>
                </a:solidFill>
                <a:latin typeface="Inter"/>
              </a:rPr>
              <a:t>Pagination &amp; tab untuk 6 jenis konten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3580"/>
                </a:solidFill>
                <a:latin typeface="Inter"/>
              </a:rPr>
              <a:t>PERJALANAN MAGANG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A0F1A"/>
                </a:solidFill>
                <a:latin typeface="Plus Jakarta Sans"/>
              </a:rPr>
              <a:t>Perjalanan Magang Bulan 1–5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005840" cy="50292"/>
          </a:xfrm>
          <a:prstGeom prst="rect">
            <a:avLst/>
          </a:prstGeom>
          <a:solidFill>
            <a:srgbClr val="003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08792" cy="13716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Inter"/>
              </a:rPr>
              <a:t>Abdul Latif · BINUS University — Laporan Magang Diskominfotik DKI Jakarta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28816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Inter"/>
              </a:rPr>
              <a:t>9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1962302" cy="30175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1962302" cy="82296"/>
          </a:xfrm>
          <a:prstGeom prst="rect">
            <a:avLst/>
          </a:prstGeom>
          <a:solidFill>
            <a:srgbClr val="003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12848"/>
            <a:ext cx="168798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7280"/>
                </a:solidFill>
                <a:latin typeface="Inter"/>
              </a:rPr>
              <a:t>BULAN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87168"/>
            <a:ext cx="168798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0F1A"/>
                </a:solidFill>
                <a:latin typeface="Plus Jakarta Sans"/>
              </a:rPr>
              <a:t>Audit &amp; Proposal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27248"/>
            <a:ext cx="168798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280"/>
                </a:solidFill>
                <a:latin typeface="Inter"/>
              </a:rPr>
              <a:t>Usulan redesign UI; memetakan masalah pengguna sejak Februari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21838" y="1920240"/>
            <a:ext cx="1962302" cy="30175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21838" y="1920240"/>
            <a:ext cx="1962302" cy="82296"/>
          </a:xfrm>
          <a:prstGeom prst="rect">
            <a:avLst/>
          </a:prstGeom>
          <a:solidFill>
            <a:srgbClr val="003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58998" y="2212848"/>
            <a:ext cx="168798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7280"/>
                </a:solidFill>
                <a:latin typeface="Inter"/>
              </a:rPr>
              <a:t>BULAN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8998" y="2487168"/>
            <a:ext cx="168798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0F1A"/>
                </a:solidFill>
                <a:latin typeface="Plus Jakarta Sans"/>
              </a:rPr>
              <a:t>Front-End &amp; MVC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8998" y="3127248"/>
            <a:ext cx="168798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280"/>
                </a:solidFill>
                <a:latin typeface="Inter"/>
              </a:rPr>
              <a:t>HTML/CSS/Bootstrap; arsitektur MVC Laravel; prinsip WCAG 2.1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03596" y="1920240"/>
            <a:ext cx="1962302" cy="30175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03596" y="1920240"/>
            <a:ext cx="1962302" cy="82296"/>
          </a:xfrm>
          <a:prstGeom prst="rect">
            <a:avLst/>
          </a:prstGeom>
          <a:solidFill>
            <a:srgbClr val="003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40756" y="2212848"/>
            <a:ext cx="168798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7280"/>
                </a:solidFill>
                <a:latin typeface="Inter"/>
              </a:rPr>
              <a:t>BULAN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40756" y="2487168"/>
            <a:ext cx="168798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0F1A"/>
                </a:solidFill>
                <a:latin typeface="Plus Jakarta Sans"/>
              </a:rPr>
              <a:t>CMS Admin (CRUD)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756" y="3127248"/>
            <a:ext cx="168798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280"/>
                </a:solidFill>
                <a:latin typeface="Inter"/>
              </a:rPr>
              <a:t>CRUD 6 modul konten; dari perancang UI → full-stack developer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85355" y="1920240"/>
            <a:ext cx="1962302" cy="30175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85355" y="1920240"/>
            <a:ext cx="1962302" cy="82296"/>
          </a:xfrm>
          <a:prstGeom prst="rect">
            <a:avLst/>
          </a:prstGeom>
          <a:solidFill>
            <a:srgbClr val="003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22515" y="2212848"/>
            <a:ext cx="168798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7280"/>
                </a:solidFill>
                <a:latin typeface="Inter"/>
              </a:rPr>
              <a:t>BULAN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22515" y="2487168"/>
            <a:ext cx="168798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0F1A"/>
                </a:solidFill>
                <a:latin typeface="Plus Jakarta Sans"/>
              </a:rPr>
              <a:t>Aksesibilitas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22515" y="3127248"/>
            <a:ext cx="168798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280"/>
                </a:solidFill>
                <a:latin typeface="Inter"/>
              </a:rPr>
              <a:t>Widget teks 80–150% &amp; kontras; optimasi query; galeri lightbox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67113" y="1920240"/>
            <a:ext cx="1962302" cy="30175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67113" y="1920240"/>
            <a:ext cx="1962302" cy="82296"/>
          </a:xfrm>
          <a:prstGeom prst="rect">
            <a:avLst/>
          </a:prstGeom>
          <a:solidFill>
            <a:srgbClr val="004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4273" y="2212848"/>
            <a:ext cx="168798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7280"/>
                </a:solidFill>
                <a:latin typeface="Inter"/>
              </a:rPr>
              <a:t>BULAN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4273" y="2487168"/>
            <a:ext cx="168798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0F1A"/>
                </a:solidFill>
                <a:latin typeface="Plus Jakarta Sans"/>
              </a:rPr>
              <a:t>Deploy &amp; Audit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4273" y="3127248"/>
            <a:ext cx="168798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280"/>
                </a:solidFill>
                <a:latin typeface="Inter"/>
              </a:rPr>
              <a:t>Deployment staging Railway.app; audit arsitektur &amp; dokumentasi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166360"/>
            <a:ext cx="10908792" cy="114300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5166360"/>
            <a:ext cx="91440" cy="1143000"/>
          </a:xfrm>
          <a:prstGeom prst="rect">
            <a:avLst/>
          </a:prstGeom>
          <a:solidFill>
            <a:srgbClr val="003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285232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3580"/>
                </a:solidFill>
                <a:latin typeface="Inter"/>
              </a:rPr>
              <a:t>3 atribut lulusan BINUS yang terasah selama magang: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5614416"/>
            <a:ext cx="334670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A0F1A"/>
                </a:solidFill>
                <a:latin typeface="Inter"/>
              </a:rPr>
              <a:t>Critical &amp; Creative Thinking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6B7280"/>
                </a:solidFill>
                <a:latin typeface="Inter"/>
              </a:rPr>
              <a:t>Jonassen (2000)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53128" y="5614416"/>
            <a:ext cx="334670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A0F1A"/>
                </a:solidFill>
                <a:latin typeface="Inter"/>
              </a:rPr>
              <a:t>Digital &amp; Technology Fluency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6B7280"/>
                </a:solidFill>
                <a:latin typeface="Inter"/>
              </a:rPr>
              <a:t>TAM — Davis (1989)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46136" y="5614416"/>
            <a:ext cx="334670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A0F1A"/>
                </a:solidFill>
                <a:latin typeface="Inter"/>
              </a:rPr>
              <a:t>Applied Management Skills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6B7280"/>
                </a:solidFill>
                <a:latin typeface="Inter"/>
              </a:rPr>
              <a:t>Self-Efficacy — Bandura (1997)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3580"/>
                </a:solidFill>
                <a:latin typeface="Inter"/>
              </a:rPr>
              <a:t>REFLEKSI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A0F1A"/>
                </a:solidFill>
                <a:latin typeface="Plus Jakarta Sans"/>
              </a:rPr>
              <a:t>Pembelajaran (Lesson Learned)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005840" cy="50292"/>
          </a:xfrm>
          <a:prstGeom prst="rect">
            <a:avLst/>
          </a:prstGeom>
          <a:solidFill>
            <a:srgbClr val="003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08792" cy="13716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Inter"/>
              </a:rPr>
              <a:t>Abdul Latif · BINUS University — Laporan Magang Diskominfotik DKI Jakarta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28816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Inter"/>
              </a:rPr>
              <a:t>10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5294376" cy="3977639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5294376" cy="82296"/>
          </a:xfrm>
          <a:prstGeom prst="rect">
            <a:avLst/>
          </a:prstGeom>
          <a:solidFill>
            <a:srgbClr val="003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212848"/>
            <a:ext cx="47823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A0F1A"/>
                </a:solidFill>
                <a:latin typeface="Plus Jakarta Sans"/>
              </a:rPr>
              <a:t>Teknis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788920"/>
            <a:ext cx="4782312" cy="3017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003580"/>
                </a:solidFill>
                <a:latin typeface="Inter"/>
              </a:rPr>
              <a:t>▪  </a:t>
            </a:r>
            <a:r>
              <a:rPr sz="1200" b="0" i="0">
                <a:solidFill>
                  <a:srgbClr val="0A0F1A"/>
                </a:solidFill>
                <a:latin typeface="Inter"/>
              </a:rPr>
              <a:t>Form terstruktur &amp; berpanduan mengalahkan form rumit — pengguna awam butuh kejelasan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003580"/>
                </a:solidFill>
                <a:latin typeface="Inter"/>
              </a:rPr>
              <a:t>▪  </a:t>
            </a:r>
            <a:r>
              <a:rPr sz="1200" b="0" i="0">
                <a:solidFill>
                  <a:srgbClr val="0A0F1A"/>
                </a:solidFill>
                <a:latin typeface="Inter"/>
              </a:rPr>
              <a:t>Aksesibilitas (WCAG 2.1) bukan pelengkap — layanan publik wajib inklusif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003580"/>
                </a:solidFill>
                <a:latin typeface="Inter"/>
              </a:rPr>
              <a:t>▪  </a:t>
            </a:r>
            <a:r>
              <a:rPr sz="1200" b="0" i="0">
                <a:solidFill>
                  <a:srgbClr val="0A0F1A"/>
                </a:solidFill>
                <a:latin typeface="Inter"/>
              </a:rPr>
              <a:t>Struktur database yang benar sejak awal mempercepat fitur berikutnya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003580"/>
                </a:solidFill>
                <a:latin typeface="Inter"/>
              </a:rPr>
              <a:t>▪  </a:t>
            </a:r>
            <a:r>
              <a:rPr sz="1200" b="0" i="0">
                <a:solidFill>
                  <a:srgbClr val="0A0F1A"/>
                </a:solidFill>
                <a:latin typeface="Inter"/>
              </a:rPr>
              <a:t>Dokumentasi paralel menjaga konteks bagi pengembang berikutnya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920240"/>
            <a:ext cx="5294376" cy="3977639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4496" y="1920240"/>
            <a:ext cx="5294376" cy="82296"/>
          </a:xfrm>
          <a:prstGeom prst="rect">
            <a:avLst/>
          </a:prstGeom>
          <a:solidFill>
            <a:srgbClr val="004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2212848"/>
            <a:ext cx="47823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A0F1A"/>
                </a:solidFill>
                <a:latin typeface="Plus Jakarta Sans"/>
              </a:rPr>
              <a:t>Non-Teknis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788920"/>
            <a:ext cx="4782312" cy="3017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004099"/>
                </a:solidFill>
                <a:latin typeface="Inter"/>
              </a:rPr>
              <a:t>▪  </a:t>
            </a:r>
            <a:r>
              <a:rPr sz="1200" b="0" i="0">
                <a:solidFill>
                  <a:srgbClr val="0A0F1A"/>
                </a:solidFill>
                <a:latin typeface="Inter"/>
              </a:rPr>
              <a:t>Empati terhadap pengguna awam — warga bukan ahli IT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004099"/>
                </a:solidFill>
                <a:latin typeface="Inter"/>
              </a:rPr>
              <a:t>▪  </a:t>
            </a:r>
            <a:r>
              <a:rPr sz="1200" b="0" i="0">
                <a:solidFill>
                  <a:srgbClr val="0A0F1A"/>
                </a:solidFill>
                <a:latin typeface="Inter"/>
              </a:rPr>
              <a:t>Koordinasi dengan pembimbing (Pak Andy &amp; Bu Rina) di lingkungan pemerintah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004099"/>
                </a:solidFill>
                <a:latin typeface="Inter"/>
              </a:rPr>
              <a:t>▪  </a:t>
            </a:r>
            <a:r>
              <a:rPr sz="1200" b="0" i="0">
                <a:solidFill>
                  <a:srgbClr val="0A0F1A"/>
                </a:solidFill>
                <a:latin typeface="Inter"/>
              </a:rPr>
              <a:t>Manajemen waktu antar deliverable — testimoni (27 Juli) &amp; pre-thesis (22 Agustus)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004099"/>
                </a:solidFill>
                <a:latin typeface="Inter"/>
              </a:rPr>
              <a:t>▪  </a:t>
            </a:r>
            <a:r>
              <a:rPr sz="1200" b="0" i="0">
                <a:solidFill>
                  <a:srgbClr val="0A0F1A"/>
                </a:solidFill>
                <a:latin typeface="Inter"/>
              </a:rPr>
              <a:t>Pengujian pada perangkat &amp; koneksi nyata mengungkap masalah tersembunyi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3580"/>
                </a:solidFill>
                <a:latin typeface="Inter"/>
              </a:rPr>
              <a:t>RENCANA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A0F1A"/>
                </a:solidFill>
                <a:latin typeface="Plus Jakarta Sans"/>
              </a:rPr>
              <a:t>Langkah Selanjutnya — Fokus Skripsi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005840" cy="50292"/>
          </a:xfrm>
          <a:prstGeom prst="rect">
            <a:avLst/>
          </a:prstGeom>
          <a:solidFill>
            <a:srgbClr val="003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08792" cy="13716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Inter"/>
              </a:rPr>
              <a:t>Abdul Latif · BINUS University — Laporan Magang Diskominfotik DKI Jakarta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28816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Inter"/>
              </a:rPr>
              <a:t>11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10908792" cy="288036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10908792" cy="82296"/>
          </a:xfrm>
          <a:prstGeom prst="rect">
            <a:avLst/>
          </a:prstGeom>
          <a:solidFill>
            <a:srgbClr val="003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0F1A"/>
                </a:solidFill>
                <a:latin typeface="Plus Jakarta Sans"/>
              </a:rPr>
              <a:t>Agar proyek siap diajukan sebagai topik skripsi di universitas: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40"/>
            <a:ext cx="10332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003580"/>
                </a:solidFill>
                <a:latin typeface="Inter"/>
              </a:rPr>
              <a:t>▪  </a:t>
            </a:r>
            <a:r>
              <a:rPr sz="1300" b="0" i="0">
                <a:solidFill>
                  <a:srgbClr val="0A0F1A"/>
                </a:solidFill>
                <a:latin typeface="Inter"/>
              </a:rPr>
              <a:t>Usability testing langsung dengan beberapa pengguna awam.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003580"/>
                </a:solidFill>
                <a:latin typeface="Inter"/>
              </a:rPr>
              <a:t>▪  </a:t>
            </a:r>
            <a:r>
              <a:rPr sz="1300" b="0" i="0">
                <a:solidFill>
                  <a:srgbClr val="0A0F1A"/>
                </a:solidFill>
                <a:latin typeface="Inter"/>
              </a:rPr>
              <a:t>Membandingkan website lama vs website baru.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003580"/>
                </a:solidFill>
                <a:latin typeface="Inter"/>
              </a:rPr>
              <a:t>▪  </a:t>
            </a:r>
            <a:r>
              <a:rPr sz="1300" b="0" i="0">
                <a:solidFill>
                  <a:srgbClr val="0A0F1A"/>
                </a:solidFill>
                <a:latin typeface="Inter"/>
              </a:rPr>
              <a:t>Membuktikan secara data: pengurangan error &amp; waktu pengisian laporan.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3580"/>
                </a:solidFill>
                <a:latin typeface="Inter"/>
              </a:rPr>
              <a:t>▪  </a:t>
            </a:r>
            <a:r>
              <a:rPr sz="1300" b="0" i="0">
                <a:solidFill>
                  <a:srgbClr val="0A0F1A"/>
                </a:solidFill>
                <a:latin typeface="Inter"/>
              </a:rPr>
              <a:t>Menjadi fondasi proposal pre-thesis (22 Agustus 2026).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120640"/>
            <a:ext cx="10908792" cy="822960"/>
          </a:xfrm>
          <a:prstGeom prst="roundRect">
            <a:avLst>
              <a:gd name="adj" fmla="val 12000"/>
            </a:avLst>
          </a:prstGeom>
          <a:solidFill>
            <a:srgbClr val="003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120640"/>
            <a:ext cx="1090879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Plus Jakarta Sans"/>
              </a:rPr>
              <a:t>Buktikan dengan data, bukan opini.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Plus Jakarta Sans"/>
              </a:rPr>
              <a:t>Terima Kasih</a:t>
            </a:r>
          </a:p>
        </p:txBody>
      </p:sp>
      <p:sp>
        <p:nvSpPr>
          <p:cNvPr id="5" name="Rectangle 4"/>
          <p:cNvSpPr/>
          <p:nvPr/>
        </p:nvSpPr>
        <p:spPr>
          <a:xfrm>
            <a:off x="5367528" y="2926080"/>
            <a:ext cx="146304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FF8"/>
                </a:solidFill>
                <a:latin typeface="Inter"/>
              </a:rPr>
              <a:t>Portal CSIRT DKI Jakarta yang lebih mudah digunakan masyarakat umum.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58768" y="3794760"/>
            <a:ext cx="4480560" cy="502920"/>
          </a:xfrm>
          <a:prstGeom prst="roundRect">
            <a:avLst>
              <a:gd name="adj" fmla="val 18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58768" y="3794760"/>
            <a:ext cx="4480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3580"/>
                </a:solidFill>
                <a:latin typeface="Inter"/>
              </a:rPr>
              <a:t>Demo: live demo melalui Cloudflare Tunnel / secure HTTPS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177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EFF8"/>
                </a:solidFill>
                <a:latin typeface="Inter"/>
              </a:rPr>
              <a:t>SESI TANYA JAWAB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126480"/>
            <a:ext cx="10881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FF8"/>
                </a:solidFill>
                <a:latin typeface="Inter"/>
              </a:rPr>
              <a:t>Abdul Latif · BINUS University — csirt.jakarta.go.id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